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4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1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1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1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61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18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19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0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1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622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608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9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610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4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625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196530" y="1511117"/>
            <a:ext cx="7163434" cy="934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1025733" y="2573715"/>
            <a:ext cx="10140532" cy="1453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7D34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392" y="183534"/>
            <a:ext cx="11616272" cy="1528353"/>
          </a:xfrm>
          <a:prstGeom prst="rect">
            <a:avLst/>
          </a:prstGeom>
        </p:spPr>
      </p:pic>
      <p:sp>
        <p:nvSpPr>
          <p:cNvPr id="1048586" name="object 3"/>
          <p:cNvSpPr txBox="1"/>
          <p:nvPr/>
        </p:nvSpPr>
        <p:spPr>
          <a:xfrm>
            <a:off x="8293927" y="5057494"/>
            <a:ext cx="27006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IN" sz="1800" spc="-35" dirty="0">
                <a:latin typeface="Times New Roman"/>
                <a:cs typeface="Times New Roman"/>
              </a:rPr>
              <a:t>Sree B(192524023)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48587" name="object 4"/>
          <p:cNvSpPr txBox="1"/>
          <p:nvPr/>
        </p:nvSpPr>
        <p:spPr>
          <a:xfrm>
            <a:off x="554552" y="5061608"/>
            <a:ext cx="2417248" cy="6533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GUDIDED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350"/>
              </a:lnSpc>
            </a:pPr>
            <a:r>
              <a:rPr sz="2000" spc="-10" dirty="0">
                <a:latin typeface="Times New Roman"/>
                <a:cs typeface="Times New Roman"/>
              </a:rPr>
              <a:t>Dr.</a:t>
            </a:r>
            <a:r>
              <a:rPr lang="en-IN" sz="2000" spc="-10" dirty="0">
                <a:latin typeface="Times New Roman"/>
                <a:cs typeface="Times New Roman"/>
              </a:rPr>
              <a:t>Uma Priyadharshini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48588" name="object 5" descr="$PPTXTitle"/>
          <p:cNvSpPr txBox="1">
            <a:spLocks noGrp="1"/>
          </p:cNvSpPr>
          <p:nvPr>
            <p:ph type="body" idx="1"/>
          </p:nvPr>
        </p:nvSpPr>
        <p:spPr>
          <a:xfrm>
            <a:off x="1025733" y="2573715"/>
            <a:ext cx="10140532" cy="780416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4411345" marR="5080" indent="-4374515">
              <a:lnSpc>
                <a:spcPts val="5240"/>
              </a:lnSpc>
              <a:spcBef>
                <a:spcPts val="905"/>
              </a:spcBef>
            </a:pPr>
            <a:r>
              <a:rPr dirty="0"/>
              <a:t>Cafeteria</a:t>
            </a:r>
            <a:r>
              <a:rPr spc="-229" dirty="0"/>
              <a:t> </a:t>
            </a:r>
            <a:r>
              <a:rPr spc="-60" dirty="0"/>
              <a:t>Token</a:t>
            </a:r>
            <a:r>
              <a:rPr spc="-140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dirty="0"/>
              <a:t>Using</a:t>
            </a:r>
            <a:r>
              <a:rPr spc="-145" dirty="0"/>
              <a:t> </a:t>
            </a:r>
            <a:r>
              <a:rPr spc="-10" dirty="0"/>
              <a:t>Queue </a:t>
            </a:r>
            <a:r>
              <a:rPr spc="-25" dirty="0"/>
              <a:t>ADT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934" y="2157842"/>
            <a:ext cx="2571750" cy="448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10" dirty="0"/>
              <a:t>Introduction:</a:t>
            </a:r>
            <a:endParaRPr sz="3450"/>
          </a:p>
        </p:txBody>
      </p:sp>
      <p:pic>
        <p:nvPicPr>
          <p:cNvPr id="2097153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3583" y="183534"/>
            <a:ext cx="11241148" cy="1306206"/>
          </a:xfrm>
          <a:prstGeom prst="rect">
            <a:avLst/>
          </a:prstGeom>
        </p:spPr>
      </p:pic>
      <p:sp>
        <p:nvSpPr>
          <p:cNvPr id="1048590" name="object 4"/>
          <p:cNvSpPr txBox="1"/>
          <p:nvPr/>
        </p:nvSpPr>
        <p:spPr>
          <a:xfrm>
            <a:off x="223469" y="2996175"/>
            <a:ext cx="10782300" cy="2583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Char char="•"/>
              <a:tabLst>
                <a:tab pos="32956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cafeteria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serves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customers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busy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hours.</a:t>
            </a:r>
            <a:endParaRPr sz="26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80"/>
              </a:spcBef>
              <a:buChar char="•"/>
              <a:tabLst>
                <a:tab pos="329565" algn="l"/>
              </a:tabLst>
            </a:pPr>
            <a:r>
              <a:rPr sz="2600" spc="-3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crowd,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customer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given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unique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token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arrive.</a:t>
            </a:r>
            <a:endParaRPr sz="26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80"/>
              </a:spcBef>
              <a:buChar char="•"/>
              <a:tabLst>
                <a:tab pos="329565" algn="l"/>
              </a:tabLst>
            </a:pPr>
            <a:r>
              <a:rPr sz="2600" dirty="0">
                <a:latin typeface="Times New Roman"/>
                <a:cs typeface="Times New Roman"/>
              </a:rPr>
              <a:t>Customers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served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order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receive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tokens.</a:t>
            </a:r>
            <a:endParaRPr sz="26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80"/>
              </a:spcBef>
              <a:buChar char="•"/>
              <a:tabLst>
                <a:tab pos="329565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follows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First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In,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First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Out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(FIFO)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principle.</a:t>
            </a:r>
            <a:endParaRPr sz="2600">
              <a:latin typeface="Times New Roman"/>
              <a:cs typeface="Times New Roman"/>
            </a:endParaRPr>
          </a:p>
          <a:p>
            <a:pPr marL="330200" marR="148590" indent="-317500">
              <a:lnSpc>
                <a:spcPts val="3200"/>
              </a:lnSpc>
              <a:spcBef>
                <a:spcPts val="120"/>
              </a:spcBef>
              <a:buChar char="•"/>
              <a:tabLst>
                <a:tab pos="3302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Queue</a:t>
            </a:r>
            <a:r>
              <a:rPr sz="2600" b="1" spc="-1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Abstract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Data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Type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(ADT)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most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suitable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structure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for </a:t>
            </a:r>
            <a:r>
              <a:rPr sz="2600" dirty="0">
                <a:latin typeface="Times New Roman"/>
                <a:cs typeface="Times New Roman"/>
              </a:rPr>
              <a:t>implementing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329565" indent="-316865">
              <a:lnSpc>
                <a:spcPts val="3080"/>
              </a:lnSpc>
              <a:buChar char="•"/>
              <a:tabLst>
                <a:tab pos="329565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ensures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fair,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organized,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efficient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service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customers.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511117"/>
            <a:ext cx="7163434" cy="817813"/>
          </a:xfrm>
          <a:prstGeom prst="rect">
            <a:avLst/>
          </a:prstGeom>
        </p:spPr>
        <p:txBody>
          <a:bodyPr vert="horz" wrap="square" lIns="0" tIns="373312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Statement:</a:t>
            </a:r>
          </a:p>
        </p:txBody>
      </p:sp>
      <p:pic>
        <p:nvPicPr>
          <p:cNvPr id="209715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5036" y="183534"/>
            <a:ext cx="11676575" cy="1306206"/>
          </a:xfrm>
          <a:prstGeom prst="rect">
            <a:avLst/>
          </a:prstGeom>
        </p:spPr>
      </p:pic>
      <p:sp>
        <p:nvSpPr>
          <p:cNvPr id="1048592" name="object 4"/>
          <p:cNvSpPr txBox="1"/>
          <p:nvPr/>
        </p:nvSpPr>
        <p:spPr>
          <a:xfrm>
            <a:off x="209964" y="2703266"/>
            <a:ext cx="10199370" cy="287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ts val="3220"/>
              </a:lnSpc>
              <a:spcBef>
                <a:spcPts val="100"/>
              </a:spcBef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cafeteria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receives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many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during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peak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hours.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0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should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served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strictly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order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they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arrive.</a:t>
            </a:r>
            <a:endParaRPr sz="2700">
              <a:latin typeface="Times New Roman"/>
              <a:cs typeface="Times New Roman"/>
            </a:endParaRPr>
          </a:p>
          <a:p>
            <a:pPr marL="330200" marR="586740" indent="-317500">
              <a:lnSpc>
                <a:spcPts val="3200"/>
              </a:lnSpc>
              <a:spcBef>
                <a:spcPts val="120"/>
              </a:spcBef>
              <a:buChar char="•"/>
              <a:tabLst>
                <a:tab pos="330200" algn="l"/>
              </a:tabLst>
            </a:pPr>
            <a:r>
              <a:rPr sz="2700" dirty="0">
                <a:latin typeface="Times New Roman"/>
                <a:cs typeface="Times New Roman"/>
              </a:rPr>
              <a:t>Manual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management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lead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confusion,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skipped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customers,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dirty="0">
                <a:latin typeface="Times New Roman"/>
                <a:cs typeface="Times New Roman"/>
              </a:rPr>
              <a:t>unfair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service.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08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efficient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system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needed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organize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waiting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line.</a:t>
            </a:r>
            <a:endParaRPr sz="2700">
              <a:latin typeface="Times New Roman"/>
              <a:cs typeface="Times New Roman"/>
            </a:endParaRPr>
          </a:p>
          <a:p>
            <a:pPr marL="330200" marR="5080" indent="-317500">
              <a:lnSpc>
                <a:spcPts val="3200"/>
              </a:lnSpc>
              <a:spcBef>
                <a:spcPts val="120"/>
              </a:spcBef>
              <a:buChar char="•"/>
              <a:tabLst>
                <a:tab pos="3302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solution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should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ensure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First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Come,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First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Served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(FIFO)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improve </a:t>
            </a:r>
            <a:r>
              <a:rPr sz="2700" spc="-30" dirty="0">
                <a:latin typeface="Times New Roman"/>
                <a:cs typeface="Times New Roman"/>
              </a:rPr>
              <a:t>efficiency,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provide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equal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service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every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customer.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511117"/>
            <a:ext cx="7163434" cy="779116"/>
          </a:xfrm>
          <a:prstGeom prst="rect">
            <a:avLst/>
          </a:prstGeom>
        </p:spPr>
        <p:txBody>
          <a:bodyPr vert="horz" wrap="square" lIns="0" tIns="42351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30"/>
              </a:spcBef>
            </a:pPr>
            <a:r>
              <a:rPr sz="2850" dirty="0"/>
              <a:t>Suitable</a:t>
            </a:r>
            <a:r>
              <a:rPr sz="2850" spc="-165" dirty="0"/>
              <a:t> </a:t>
            </a:r>
            <a:r>
              <a:rPr sz="2850" dirty="0"/>
              <a:t>Abstract</a:t>
            </a:r>
            <a:r>
              <a:rPr sz="2850" spc="-10" dirty="0"/>
              <a:t> </a:t>
            </a:r>
            <a:r>
              <a:rPr sz="2850" dirty="0"/>
              <a:t>Data</a:t>
            </a:r>
            <a:r>
              <a:rPr sz="2850" spc="-55" dirty="0"/>
              <a:t> </a:t>
            </a:r>
            <a:r>
              <a:rPr sz="2850" dirty="0"/>
              <a:t>Type</a:t>
            </a:r>
            <a:r>
              <a:rPr sz="2850" spc="-5" dirty="0"/>
              <a:t> </a:t>
            </a:r>
            <a:r>
              <a:rPr sz="2850" dirty="0"/>
              <a:t>(ADT):</a:t>
            </a:r>
            <a:r>
              <a:rPr sz="2850" spc="-10" dirty="0"/>
              <a:t> Queue</a:t>
            </a:r>
            <a:endParaRPr sz="2850"/>
          </a:p>
        </p:txBody>
      </p:sp>
      <p:pic>
        <p:nvPicPr>
          <p:cNvPr id="2097155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768" y="181473"/>
            <a:ext cx="11560091" cy="1186215"/>
          </a:xfrm>
          <a:prstGeom prst="rect">
            <a:avLst/>
          </a:prstGeom>
        </p:spPr>
      </p:pic>
      <p:sp>
        <p:nvSpPr>
          <p:cNvPr id="1048594" name="object 4"/>
          <p:cNvSpPr txBox="1"/>
          <p:nvPr/>
        </p:nvSpPr>
        <p:spPr>
          <a:xfrm>
            <a:off x="429059" y="2750045"/>
            <a:ext cx="10697210" cy="246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ts val="3220"/>
              </a:lnSpc>
              <a:spcBef>
                <a:spcPts val="100"/>
              </a:spcBef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Queue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most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suitable</a:t>
            </a:r>
            <a:r>
              <a:rPr sz="2700" spc="-1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ADT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cafeteria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token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system.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0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follows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FIFO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(First</a:t>
            </a:r>
            <a:r>
              <a:rPr sz="2700" b="1" spc="-4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In,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First</a:t>
            </a:r>
            <a:r>
              <a:rPr sz="2700" b="1" spc="-4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Out)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principle.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0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who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receives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token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first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served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first.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0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New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added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rear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b="1" spc="-10" dirty="0">
                <a:latin typeface="Times New Roman"/>
                <a:cs typeface="Times New Roman"/>
              </a:rPr>
              <a:t>Enqueue</a:t>
            </a:r>
            <a:r>
              <a:rPr sz="2700" spc="-10" dirty="0">
                <a:latin typeface="Times New Roman"/>
                <a:cs typeface="Times New Roman"/>
              </a:rPr>
              <a:t>).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0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served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removed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front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b="1" spc="-10" dirty="0">
                <a:latin typeface="Times New Roman"/>
                <a:cs typeface="Times New Roman"/>
              </a:rPr>
              <a:t>Dequeue</a:t>
            </a:r>
            <a:r>
              <a:rPr sz="2700" spc="-10" dirty="0">
                <a:latin typeface="Times New Roman"/>
                <a:cs typeface="Times New Roman"/>
              </a:rPr>
              <a:t>).</a:t>
            </a:r>
            <a:endParaRPr sz="2700">
              <a:latin typeface="Times New Roman"/>
              <a:cs typeface="Times New Roman"/>
            </a:endParaRPr>
          </a:p>
          <a:p>
            <a:pPr marL="329565" indent="-316865">
              <a:lnSpc>
                <a:spcPts val="3220"/>
              </a:lnSpc>
              <a:buChar char="•"/>
              <a:tabLst>
                <a:tab pos="329565" algn="l"/>
              </a:tabLst>
            </a:pP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ensures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b="1" spc="-35" dirty="0">
                <a:latin typeface="Times New Roman"/>
                <a:cs typeface="Times New Roman"/>
              </a:rPr>
              <a:t>fair,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organized,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and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spc="-20" dirty="0">
                <a:latin typeface="Times New Roman"/>
                <a:cs typeface="Times New Roman"/>
              </a:rPr>
              <a:t>efficient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service.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9186" y="1511117"/>
            <a:ext cx="343662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Queue</a:t>
            </a:r>
            <a:r>
              <a:rPr sz="3300" spc="-55" dirty="0"/>
              <a:t> </a:t>
            </a:r>
            <a:r>
              <a:rPr sz="3300" spc="-10" dirty="0"/>
              <a:t>Operations:</a:t>
            </a:r>
            <a:endParaRPr sz="3300"/>
          </a:p>
        </p:txBody>
      </p:sp>
      <p:pic>
        <p:nvPicPr>
          <p:cNvPr id="2097156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0925" y="127045"/>
            <a:ext cx="9447273" cy="973449"/>
          </a:xfrm>
          <a:prstGeom prst="rect">
            <a:avLst/>
          </a:prstGeom>
        </p:spPr>
      </p:pic>
      <p:sp>
        <p:nvSpPr>
          <p:cNvPr id="1048596" name="object 4"/>
          <p:cNvSpPr txBox="1"/>
          <p:nvPr/>
        </p:nvSpPr>
        <p:spPr>
          <a:xfrm>
            <a:off x="343387" y="2263691"/>
            <a:ext cx="7699375" cy="3753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21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Enqueue</a:t>
            </a:r>
            <a:endParaRPr sz="2200">
              <a:latin typeface="Times New Roman"/>
              <a:cs typeface="Times New Roman"/>
            </a:endParaRPr>
          </a:p>
          <a:p>
            <a:pPr marL="469265" lvl="1" indent="-316865">
              <a:lnSpc>
                <a:spcPct val="100000"/>
              </a:lnSpc>
              <a:spcBef>
                <a:spcPts val="1560"/>
              </a:spcBef>
              <a:buChar char="•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Adds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(token)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rear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queue.</a:t>
            </a:r>
            <a:endParaRPr sz="22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2921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Dequeue</a:t>
            </a:r>
            <a:endParaRPr sz="2200">
              <a:latin typeface="Times New Roman"/>
              <a:cs typeface="Times New Roman"/>
            </a:endParaRPr>
          </a:p>
          <a:p>
            <a:pPr marL="469265" lvl="1" indent="-316865">
              <a:lnSpc>
                <a:spcPct val="100000"/>
              </a:lnSpc>
              <a:spcBef>
                <a:spcPts val="1565"/>
              </a:spcBef>
              <a:buChar char="•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Removes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front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queue.</a:t>
            </a:r>
            <a:endParaRPr sz="22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292100" algn="l"/>
              </a:tabLst>
            </a:pPr>
            <a:r>
              <a:rPr sz="2200" b="1" dirty="0">
                <a:latin typeface="Times New Roman"/>
                <a:cs typeface="Times New Roman"/>
              </a:rPr>
              <a:t>Front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(Peek)</a:t>
            </a:r>
            <a:endParaRPr sz="2200">
              <a:latin typeface="Times New Roman"/>
              <a:cs typeface="Times New Roman"/>
            </a:endParaRPr>
          </a:p>
          <a:p>
            <a:pPr marL="469265" lvl="1" indent="-316865">
              <a:lnSpc>
                <a:spcPct val="100000"/>
              </a:lnSpc>
              <a:spcBef>
                <a:spcPts val="1565"/>
              </a:spcBef>
              <a:buChar char="•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Displays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them.</a:t>
            </a:r>
            <a:endParaRPr sz="22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2921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IsEmpty()</a:t>
            </a:r>
            <a:endParaRPr sz="2200">
              <a:latin typeface="Times New Roman"/>
              <a:cs typeface="Times New Roman"/>
            </a:endParaRPr>
          </a:p>
          <a:p>
            <a:pPr marL="469265" lvl="1" indent="-316865">
              <a:lnSpc>
                <a:spcPct val="100000"/>
              </a:lnSpc>
              <a:spcBef>
                <a:spcPts val="1560"/>
              </a:spcBef>
              <a:buChar char="•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Checks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empty.</a:t>
            </a:r>
            <a:endParaRPr sz="22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292100" algn="l"/>
              </a:tabLst>
            </a:pPr>
            <a:r>
              <a:rPr sz="2200" b="1" dirty="0">
                <a:latin typeface="Times New Roman"/>
                <a:cs typeface="Times New Roman"/>
              </a:rPr>
              <a:t>IsFull()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(for</a:t>
            </a:r>
            <a:r>
              <a:rPr sz="2200" b="1" i="1" spc="-30" dirty="0">
                <a:latin typeface="Times New Roman"/>
                <a:cs typeface="Times New Roman"/>
              </a:rPr>
              <a:t> </a:t>
            </a:r>
            <a:r>
              <a:rPr sz="2200" b="1" i="1" spc="-10" dirty="0">
                <a:latin typeface="Times New Roman"/>
                <a:cs typeface="Times New Roman"/>
              </a:rPr>
              <a:t>array-</a:t>
            </a:r>
            <a:r>
              <a:rPr sz="2200" b="1" i="1" dirty="0">
                <a:latin typeface="Times New Roman"/>
                <a:cs typeface="Times New Roman"/>
              </a:rPr>
              <a:t>based</a:t>
            </a:r>
            <a:r>
              <a:rPr sz="2200" b="1" i="1" spc="-30" dirty="0">
                <a:latin typeface="Times New Roman"/>
                <a:cs typeface="Times New Roman"/>
              </a:rPr>
              <a:t> </a:t>
            </a:r>
            <a:r>
              <a:rPr sz="2200" b="1" i="1" spc="-10" dirty="0">
                <a:latin typeface="Times New Roman"/>
                <a:cs typeface="Times New Roman"/>
              </a:rPr>
              <a:t>queues)</a:t>
            </a:r>
            <a:endParaRPr sz="2200">
              <a:latin typeface="Times New Roman"/>
              <a:cs typeface="Times New Roman"/>
            </a:endParaRPr>
          </a:p>
          <a:p>
            <a:pPr marL="469265" lvl="1" indent="-316865">
              <a:lnSpc>
                <a:spcPct val="100000"/>
              </a:lnSpc>
              <a:spcBef>
                <a:spcPts val="1565"/>
              </a:spcBef>
              <a:buChar char="•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Checks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reached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maximum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capacity.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511117"/>
            <a:ext cx="7163434" cy="680056"/>
          </a:xfrm>
          <a:prstGeom prst="rect">
            <a:avLst/>
          </a:prstGeom>
        </p:spPr>
        <p:txBody>
          <a:bodyPr vert="horz" wrap="square" lIns="0" tIns="2355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Working</a:t>
            </a:r>
            <a:r>
              <a:rPr spc="-12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Cafeteria</a:t>
            </a:r>
            <a:r>
              <a:rPr spc="-180" dirty="0"/>
              <a:t> </a:t>
            </a:r>
            <a:r>
              <a:rPr spc="-35" dirty="0"/>
              <a:t>Token</a:t>
            </a:r>
            <a:r>
              <a:rPr spc="-125" dirty="0"/>
              <a:t> </a:t>
            </a:r>
            <a:r>
              <a:rPr spc="-10" dirty="0"/>
              <a:t>System:</a:t>
            </a:r>
          </a:p>
        </p:txBody>
      </p:sp>
      <p:pic>
        <p:nvPicPr>
          <p:cNvPr id="2097157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546" y="167024"/>
            <a:ext cx="11538146" cy="1143011"/>
          </a:xfrm>
          <a:prstGeom prst="rect">
            <a:avLst/>
          </a:prstGeom>
        </p:spPr>
      </p:pic>
      <p:sp>
        <p:nvSpPr>
          <p:cNvPr id="1048598" name="object 4"/>
          <p:cNvSpPr txBox="1"/>
          <p:nvPr/>
        </p:nvSpPr>
        <p:spPr>
          <a:xfrm>
            <a:off x="302776" y="2780631"/>
            <a:ext cx="10960735" cy="287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 indent="-260350">
              <a:lnSpc>
                <a:spcPts val="3220"/>
              </a:lnSpc>
              <a:spcBef>
                <a:spcPts val="100"/>
              </a:spcBef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enters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cafeteria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receives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unique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token.</a:t>
            </a:r>
            <a:endParaRPr sz="2700">
              <a:latin typeface="Times New Roman"/>
              <a:cs typeface="Times New Roman"/>
            </a:endParaRPr>
          </a:p>
          <a:p>
            <a:pPr marL="273050" indent="-260350">
              <a:lnSpc>
                <a:spcPts val="3200"/>
              </a:lnSpc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customer's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token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added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(Enqueue).</a:t>
            </a:r>
            <a:endParaRPr sz="2700">
              <a:latin typeface="Times New Roman"/>
              <a:cs typeface="Times New Roman"/>
            </a:endParaRPr>
          </a:p>
          <a:p>
            <a:pPr marL="273050" indent="-260350">
              <a:lnSpc>
                <a:spcPts val="3200"/>
              </a:lnSpc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wait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order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their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arrival.</a:t>
            </a:r>
            <a:endParaRPr sz="2700">
              <a:latin typeface="Times New Roman"/>
              <a:cs typeface="Times New Roman"/>
            </a:endParaRPr>
          </a:p>
          <a:p>
            <a:pPr marL="273050" marR="5080" indent="-260985">
              <a:lnSpc>
                <a:spcPts val="3200"/>
              </a:lnSpc>
              <a:spcBef>
                <a:spcPts val="120"/>
              </a:spcBef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counter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available,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front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served first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(Dequeue).</a:t>
            </a:r>
            <a:endParaRPr sz="2700">
              <a:latin typeface="Times New Roman"/>
              <a:cs typeface="Times New Roman"/>
            </a:endParaRPr>
          </a:p>
          <a:p>
            <a:pPr marL="273050" indent="-260350">
              <a:lnSpc>
                <a:spcPts val="3080"/>
              </a:lnSpc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After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service,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next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moves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front.</a:t>
            </a:r>
            <a:endParaRPr sz="2700">
              <a:latin typeface="Times New Roman"/>
              <a:cs typeface="Times New Roman"/>
            </a:endParaRPr>
          </a:p>
          <a:p>
            <a:pPr marL="273050" indent="-260350">
              <a:lnSpc>
                <a:spcPts val="3220"/>
              </a:lnSpc>
              <a:buChar char="•"/>
              <a:tabLst>
                <a:tab pos="273050" algn="l"/>
              </a:tabLst>
            </a:pP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continues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until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have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been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served.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733974"/>
            <a:ext cx="5364480" cy="457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7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Queue</a:t>
            </a:r>
            <a:r>
              <a:rPr spc="-215" dirty="0"/>
              <a:t> </a:t>
            </a:r>
            <a:r>
              <a:rPr spc="-20" dirty="0"/>
              <a:t>ADT:</a:t>
            </a:r>
          </a:p>
        </p:txBody>
      </p:sp>
      <p:pic>
        <p:nvPicPr>
          <p:cNvPr id="2097159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546" y="167024"/>
            <a:ext cx="11538146" cy="1143011"/>
          </a:xfrm>
          <a:prstGeom prst="rect">
            <a:avLst/>
          </a:prstGeom>
        </p:spPr>
      </p:pic>
      <p:sp>
        <p:nvSpPr>
          <p:cNvPr id="1048602" name="object 4"/>
          <p:cNvSpPr txBox="1"/>
          <p:nvPr/>
        </p:nvSpPr>
        <p:spPr>
          <a:xfrm>
            <a:off x="290892" y="2793331"/>
            <a:ext cx="10601325" cy="2383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Ensures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Fairness: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Customers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served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In,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Out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(FIFO)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order.</a:t>
            </a:r>
            <a:endParaRPr sz="23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Easy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Implement: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Simple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operations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Enqueue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Dequeue.</a:t>
            </a:r>
            <a:endParaRPr sz="23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Organized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Customer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Management: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Maintains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systematic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waiting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line.</a:t>
            </a:r>
            <a:endParaRPr sz="23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Reduces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Waiting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Confusion: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Prevents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customers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skipping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queue.</a:t>
            </a:r>
            <a:endParaRPr sz="23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Improves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Efficiency: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Speeds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up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service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process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during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busy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hours.</a:t>
            </a:r>
            <a:endParaRPr sz="2300">
              <a:latin typeface="Times New Roman"/>
              <a:cs typeface="Times New Roman"/>
            </a:endParaRPr>
          </a:p>
          <a:p>
            <a:pPr marL="329565" indent="-316865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  <a:tabLst>
                <a:tab pos="329565" algn="l"/>
              </a:tabLst>
            </a:pPr>
            <a:r>
              <a:rPr sz="2300" dirty="0">
                <a:latin typeface="Times New Roman"/>
                <a:cs typeface="Times New Roman"/>
              </a:rPr>
              <a:t>Scalable: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handle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both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small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large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numbers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customers.</a:t>
            </a:r>
            <a:endParaRPr sz="2300">
              <a:latin typeface="Times New Roman"/>
              <a:cs typeface="Times New Roman"/>
            </a:endParaRPr>
          </a:p>
          <a:p>
            <a:pPr marL="330200" marR="5080" indent="-317500">
              <a:lnSpc>
                <a:spcPct val="101400"/>
              </a:lnSpc>
              <a:buFont typeface="Times New Roman"/>
              <a:buChar char="•"/>
              <a:tabLst>
                <a:tab pos="330200" algn="l"/>
              </a:tabLst>
            </a:pPr>
            <a:r>
              <a:rPr sz="2300" spc="-30" dirty="0">
                <a:latin typeface="Times New Roman"/>
                <a:cs typeface="Times New Roman"/>
              </a:rPr>
              <a:t>Widely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Applicable: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Used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cafeterias,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banks,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hospitals,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railway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stations,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ticket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booking </a:t>
            </a:r>
            <a:r>
              <a:rPr sz="2300" dirty="0">
                <a:latin typeface="Times New Roman"/>
                <a:cs typeface="Times New Roman"/>
              </a:rPr>
              <a:t>systems,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call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centers.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511117"/>
            <a:ext cx="7163434" cy="680056"/>
          </a:xfrm>
          <a:prstGeom prst="rect">
            <a:avLst/>
          </a:prstGeom>
        </p:spPr>
        <p:txBody>
          <a:bodyPr vert="horz" wrap="square" lIns="0" tIns="2355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Real-</a:t>
            </a:r>
            <a:r>
              <a:rPr spc="-10" dirty="0"/>
              <a:t>Life</a:t>
            </a:r>
            <a:r>
              <a:rPr spc="-155" dirty="0"/>
              <a:t> </a:t>
            </a:r>
            <a:r>
              <a:rPr spc="-10" dirty="0"/>
              <a:t>Applications:</a:t>
            </a:r>
          </a:p>
        </p:txBody>
      </p:sp>
      <p:pic>
        <p:nvPicPr>
          <p:cNvPr id="2097160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546" y="167024"/>
            <a:ext cx="11538146" cy="1143011"/>
          </a:xfrm>
          <a:prstGeom prst="rect">
            <a:avLst/>
          </a:prstGeom>
        </p:spPr>
      </p:pic>
      <p:sp>
        <p:nvSpPr>
          <p:cNvPr id="1048604" name="object 4"/>
          <p:cNvSpPr txBox="1"/>
          <p:nvPr/>
        </p:nvSpPr>
        <p:spPr>
          <a:xfrm>
            <a:off x="242771" y="2786981"/>
            <a:ext cx="11694795" cy="255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Cafeteria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Token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System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Customers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served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order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receive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tokens.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Bank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Token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System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Customers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wait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their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turn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service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counters.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Hospital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Registration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Patients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attended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based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their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arrival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order.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Railway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Bus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Ticket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Booking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Passengers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served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Printer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Queue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Print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after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another.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Call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Centers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Customer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calls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handled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order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they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received.</a:t>
            </a:r>
            <a:endParaRPr sz="2500">
              <a:latin typeface="Times New Roman"/>
              <a:cs typeface="Times New Roman"/>
            </a:endParaRPr>
          </a:p>
          <a:p>
            <a:pPr marL="243204" indent="-230504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Supermarkets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Billing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Counters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Shoppers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billed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order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they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join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line.</a:t>
            </a:r>
            <a:endParaRPr sz="2500">
              <a:latin typeface="Times New Roman"/>
              <a:cs typeface="Times New Roman"/>
            </a:endParaRPr>
          </a:p>
          <a:p>
            <a:pPr marL="243204" marR="549275" indent="-231140">
              <a:lnSpc>
                <a:spcPct val="100000"/>
              </a:lnSpc>
              <a:buFont typeface="Times New Roman"/>
              <a:buChar char="•"/>
              <a:tabLst>
                <a:tab pos="243204" algn="l"/>
              </a:tabLst>
            </a:pPr>
            <a:r>
              <a:rPr sz="2500" b="1" dirty="0">
                <a:latin typeface="Times New Roman"/>
                <a:cs typeface="Times New Roman"/>
              </a:rPr>
              <a:t>Online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Customer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Support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–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Support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requests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sequence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they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are </a:t>
            </a:r>
            <a:r>
              <a:rPr sz="2500" spc="-10" dirty="0">
                <a:latin typeface="Times New Roman"/>
                <a:cs typeface="Times New Roman"/>
              </a:rPr>
              <a:t>received.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30" y="1511117"/>
            <a:ext cx="7163434" cy="680056"/>
          </a:xfrm>
          <a:prstGeom prst="rect">
            <a:avLst/>
          </a:prstGeom>
        </p:spPr>
        <p:txBody>
          <a:bodyPr vert="horz" wrap="square" lIns="0" tIns="2355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Conclusion:</a:t>
            </a:r>
          </a:p>
        </p:txBody>
      </p:sp>
      <p:pic>
        <p:nvPicPr>
          <p:cNvPr id="2097161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546" y="167024"/>
            <a:ext cx="11538146" cy="1143011"/>
          </a:xfrm>
          <a:prstGeom prst="rect">
            <a:avLst/>
          </a:prstGeom>
        </p:spPr>
      </p:pic>
      <p:sp>
        <p:nvSpPr>
          <p:cNvPr id="1048606" name="object 4"/>
          <p:cNvSpPr txBox="1"/>
          <p:nvPr/>
        </p:nvSpPr>
        <p:spPr>
          <a:xfrm>
            <a:off x="220166" y="2698750"/>
            <a:ext cx="11685270" cy="279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 indent="-250190">
              <a:lnSpc>
                <a:spcPct val="100000"/>
              </a:lnSpc>
              <a:spcBef>
                <a:spcPts val="100"/>
              </a:spcBef>
              <a:buChar char="•"/>
              <a:tabLst>
                <a:tab pos="26289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Queue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most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suitable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structure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cafeteria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token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262890" marR="5080" indent="-250825">
              <a:lnSpc>
                <a:spcPts val="3200"/>
              </a:lnSpc>
              <a:spcBef>
                <a:spcPts val="120"/>
              </a:spcBef>
              <a:buChar char="•"/>
              <a:tabLst>
                <a:tab pos="26289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follows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FIFO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(First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First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Out)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principle,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ensuring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customers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served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order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10" dirty="0">
                <a:latin typeface="Times New Roman"/>
                <a:cs typeface="Times New Roman"/>
              </a:rPr>
              <a:t> arrive.</a:t>
            </a:r>
            <a:endParaRPr sz="2600">
              <a:latin typeface="Times New Roman"/>
              <a:cs typeface="Times New Roman"/>
            </a:endParaRPr>
          </a:p>
          <a:p>
            <a:pPr marL="262890" indent="-250190">
              <a:lnSpc>
                <a:spcPts val="3080"/>
              </a:lnSpc>
              <a:buChar char="•"/>
              <a:tabLst>
                <a:tab pos="26289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approach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provides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fairness,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efficiency,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organized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customer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management.</a:t>
            </a:r>
            <a:endParaRPr sz="2600">
              <a:latin typeface="Times New Roman"/>
              <a:cs typeface="Times New Roman"/>
            </a:endParaRPr>
          </a:p>
          <a:p>
            <a:pPr marL="262890" marR="1189355" indent="-250825">
              <a:lnSpc>
                <a:spcPts val="3200"/>
              </a:lnSpc>
              <a:spcBef>
                <a:spcPts val="120"/>
              </a:spcBef>
              <a:buChar char="•"/>
              <a:tabLst>
                <a:tab pos="262890" algn="l"/>
              </a:tabLst>
            </a:pPr>
            <a:r>
              <a:rPr sz="2600" dirty="0">
                <a:latin typeface="Times New Roman"/>
                <a:cs typeface="Times New Roman"/>
              </a:rPr>
              <a:t>Queue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operations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Enqueue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Dequeue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spc="-10" dirty="0">
                <a:latin typeface="Times New Roman"/>
                <a:cs typeface="Times New Roman"/>
              </a:rPr>
              <a:t>effective.</a:t>
            </a:r>
            <a:endParaRPr sz="2600">
              <a:latin typeface="Times New Roman"/>
              <a:cs typeface="Times New Roman"/>
            </a:endParaRPr>
          </a:p>
          <a:p>
            <a:pPr marL="262890" marR="194310" indent="-250825">
              <a:lnSpc>
                <a:spcPts val="3200"/>
              </a:lnSpc>
              <a:buChar char="•"/>
              <a:tabLst>
                <a:tab pos="262890" algn="l"/>
              </a:tabLst>
            </a:pPr>
            <a:r>
              <a:rPr sz="2600" dirty="0">
                <a:latin typeface="Times New Roman"/>
                <a:cs typeface="Times New Roman"/>
              </a:rPr>
              <a:t>Queue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widely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real-</a:t>
            </a:r>
            <a:r>
              <a:rPr sz="2600" dirty="0">
                <a:latin typeface="Times New Roman"/>
                <a:cs typeface="Times New Roman"/>
              </a:rPr>
              <a:t>life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applications,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banks,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hospitals, </a:t>
            </a:r>
            <a:r>
              <a:rPr sz="2600" dirty="0">
                <a:latin typeface="Times New Roman"/>
                <a:cs typeface="Times New Roman"/>
              </a:rPr>
              <a:t>ticket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booking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systems,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centers.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06795" y="2451491"/>
            <a:ext cx="621728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solidFill>
                  <a:srgbClr val="000000"/>
                </a:solidFill>
                <a:latin typeface="Arial MT"/>
                <a:cs typeface="Arial MT"/>
              </a:rPr>
              <a:t>THANK</a:t>
            </a:r>
            <a:r>
              <a:rPr sz="8000" b="0" spc="-2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Arial MT"/>
                <a:cs typeface="Arial MT"/>
              </a:rPr>
              <a:t>YOU!</a:t>
            </a:r>
            <a:endParaRPr sz="8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MT</vt:lpstr>
      <vt:lpstr>Times New Roman</vt:lpstr>
      <vt:lpstr>Office Theme</vt:lpstr>
      <vt:lpstr>PowerPoint Presentation</vt:lpstr>
      <vt:lpstr>Introduction:</vt:lpstr>
      <vt:lpstr>Problem Statement:</vt:lpstr>
      <vt:lpstr>Suitable Abstract Data Type (ADT): Queue</vt:lpstr>
      <vt:lpstr>Queue Operations:</vt:lpstr>
      <vt:lpstr>Working of Cafeteria Token System:</vt:lpstr>
      <vt:lpstr>Advantages of Queue ADT:</vt:lpstr>
      <vt:lpstr>Real-Life Applications:</vt:lpstr>
      <vt:lpstr>Conclusion: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DS</dc:title>
  <dc:creator>CPH2705</dc:creator>
  <cp:lastModifiedBy>Sree Sree</cp:lastModifiedBy>
  <cp:revision>1</cp:revision>
  <dcterms:created xsi:type="dcterms:W3CDTF">2026-07-22T20:46:43Z</dcterms:created>
  <dcterms:modified xsi:type="dcterms:W3CDTF">2026-07-29T01:02:18Z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Keynote</vt:lpwstr>
  </property>
  <property fmtid="{D5CDD505-2E9C-101B-9397-08002B2CF9AE}" pid="5" name="LastSaved">
    <vt:filetime>2026-07-23T00:00:00Z</vt:filetime>
  </property>
  <property fmtid="{D5CDD505-2E9C-101B-9397-08002B2CF9AE}" pid="6" name="Producer">
    <vt:lpwstr>macOS Version 26.5.2 (Build 25F84) Quartz PDFContext</vt:lpwstr>
  </property>
  <property fmtid="{D5CDD505-2E9C-101B-9397-08002B2CF9AE}" pid="7" name="ICV">
    <vt:lpwstr>452df46b68ec4c86a0dd78da9e253dcd_22</vt:lpwstr>
  </property>
</Properties>
</file>